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custom"/>
  <p:notesSz cx="12192000" cy="6858000"/>
  <p:embeddedFontLst>
    <p:embeddedFont>
      <p:font typeface="MiSans" charset="-122" pitchFamily="34"/>
      <p:regular r:id="rId1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line"/>
          <p:cNvSpPr/>
          <p:nvPr/>
        </p:nvSpPr>
        <p:spPr>
          <a:xfrm>
            <a:off x="1016000" y="914400"/>
            <a:ext cx="1219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" name="label"/>
          <p:cNvSpPr txBox="1"/>
          <p:nvPr/>
        </p:nvSpPr>
        <p:spPr>
          <a:xfrm>
            <a:off x="1016000" y="1295400"/>
            <a:ext cx="635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D8D2C4"/>
                </a:solidFill>
                <a:latin typeface="MiSans"/>
                <a:ea typeface="MiSans"/>
              </a:rPr>
              <a:t>JACHACKS KENYA SUBMISSION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1016000" y="2032000"/>
            <a:ext cx="9652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2000"/>
              </a:lnSpc>
            </a:pPr>
            <a:r>
              <a:rPr lang="en-US" sz="6200" noProof="1" b="1">
                <a:solidFill>
                  <a:srgbClr val="F7F3EA"/>
                </a:solidFill>
                <a:latin typeface="MiSans"/>
                <a:ea typeface="MiSans"/>
              </a:rPr>
              <a:t>GrantFlow KE</a:t>
            </a:r>
            <a:endParaRPr lang="en-US" sz="6200" noProof="1"/>
          </a:p>
        </p:txBody>
      </p:sp>
      <p:sp>
        <p:nvSpPr>
          <p:cNvPr id="5" name="subtitle"/>
          <p:cNvSpPr txBox="1"/>
          <p:nvPr/>
        </p:nvSpPr>
        <p:spPr>
          <a:xfrm>
            <a:off x="1016000" y="3708400"/>
            <a:ext cx="8763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2400" noProof="1">
                <a:solidFill>
                  <a:srgbClr val="EDE6D8"/>
                </a:solidFill>
                <a:latin typeface="MiSans"/>
                <a:ea typeface="MiSans"/>
              </a:rPr>
              <a:t>Deterministic grant review agents for community funds, student innovation funds, and small public or NGO grant programs.</a:t>
            </a:r>
            <a:endParaRPr lang="en-US" sz="2400" noProof="1"/>
          </a:p>
        </p:txBody>
      </p:sp>
      <p:sp>
        <p:nvSpPr>
          <p:cNvPr id="6" name="footer-line"/>
          <p:cNvSpPr/>
          <p:nvPr>
            <p:extLst>
              <p:ext uri="{F5677B7D-0D2A-4D9B-9A5C-6D8D7D0E5A5D}">
                <pptd:line encoding="base64url">eyJ2aWV3Qm94IjpbODAwLDFdLCJwb2ludHMiOiIwLDAgODAwLDAiLCJjdXJ2ZSI6InNoYXJwIn0</pptd:line>
              </p:ext>
            </p:extLst>
          </p:nvPr>
        </p:nvSpPr>
        <p:spPr>
          <a:xfrm>
            <a:off x="1016000" y="5562600"/>
            <a:ext cx="10160000" cy="12700"/>
          </a:xfrm>
          <a:custGeom>
            <a:avLst/>
            <a:gdLst/>
            <a:ahLst/>
            <a:cxnLst/>
            <a:rect l="l" t="t" r="r" b="b"/>
            <a:pathLst>
              <a:path w="800" h="1">
                <a:moveTo>
                  <a:pt x="0" y="0"/>
                </a:moveTo>
                <a:lnTo>
                  <a:pt x="800" y="0"/>
                </a:lnTo>
              </a:path>
            </a:pathLst>
          </a:custGeom>
          <a:noFill/>
          <a:ln w="12700">
            <a:solidFill>
              <a:srgbClr val="D8D2C4">
                <a:alpha val="50196"/>
              </a:srgbClr>
            </a:solidFill>
          </a:ln>
        </p:spPr>
      </p:sp>
      <p:sp>
        <p:nvSpPr>
          <p:cNvPr id="7" name="footer"/>
          <p:cNvSpPr txBox="1"/>
          <p:nvPr/>
        </p:nvSpPr>
        <p:spPr>
          <a:xfrm>
            <a:off x="1016000" y="5816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D8D2C4"/>
                </a:solidFill>
                <a:latin typeface="MiSans"/>
                <a:ea typeface="MiSans"/>
              </a:rPr>
              <a:t>Built with Jac and Jac Hammer. No live external dependency required for the core demo.</a:t>
            </a:r>
            <a:endParaRPr lang="en-US" sz="13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label"/>
          <p:cNvSpPr txBox="1"/>
          <p:nvPr/>
        </p:nvSpPr>
        <p:spPr>
          <a:xfrm>
            <a:off x="1016000" y="533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6B7280"/>
                </a:solidFill>
                <a:latin typeface="MiSans"/>
                <a:ea typeface="MiSans"/>
              </a:rPr>
              <a:t>THE PROBLEM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1016000" y="990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800" noProof="1" b="1">
                <a:solidFill>
                  <a:srgbClr val="0B3D2E"/>
                </a:solidFill>
                <a:latin typeface="MiSans"/>
                <a:ea typeface="MiSans"/>
              </a:rPr>
              <a:t>Manual grant review breaks down when volume meets limited review capacity.</a:t>
            </a:r>
            <a:endParaRPr lang="en-US" sz="2800" noProof="1"/>
          </a:p>
        </p:txBody>
      </p:sp>
      <p:sp>
        <p:nvSpPr>
          <p:cNvPr id="4" name="red-rule"/>
          <p:cNvSpPr/>
          <p:nvPr/>
        </p:nvSpPr>
        <p:spPr>
          <a:xfrm>
            <a:off x="1016000" y="2133600"/>
            <a:ext cx="63500" cy="3175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" name="item1-num"/>
          <p:cNvSpPr txBox="1"/>
          <p:nvPr/>
        </p:nvSpPr>
        <p:spPr>
          <a:xfrm>
            <a:off x="1422400" y="22352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B91C1C"/>
                </a:solidFill>
                <a:latin typeface="MiSans"/>
                <a:ea typeface="MiSans"/>
              </a:rPr>
              <a:t>01</a:t>
            </a:r>
            <a:endParaRPr lang="en-US" sz="3400" noProof="1"/>
          </a:p>
        </p:txBody>
      </p:sp>
      <p:sp>
        <p:nvSpPr>
          <p:cNvPr id="6" name="item1"/>
          <p:cNvSpPr txBox="1"/>
          <p:nvPr/>
        </p:nvSpPr>
        <p:spPr>
          <a:xfrm>
            <a:off x="2413000" y="2235200"/>
            <a:ext cx="838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Required documents are checked late, so incomplete applications consume reviewer time.</a:t>
            </a:r>
            <a:endParaRPr lang="en-US" sz="1800" noProof="1"/>
          </a:p>
        </p:txBody>
      </p:sp>
      <p:sp>
        <p:nvSpPr>
          <p:cNvPr id="7" name="line1"/>
          <p:cNvSpPr/>
          <p:nvPr>
            <p:extLst>
              <p:ext uri="{F5677B7D-0D2A-4D9B-9A5C-6D8D7D0E5A5D}">
                <pptd:line encoding="base64url">eyJ2aWV3Qm94IjpbNzQwLDFdLCJwb2ludHMiOiIwLDAgNzQwLDAiLCJjdXJ2ZSI6InNoYXJwIn0</pptd:line>
              </p:ext>
            </p:extLst>
          </p:nvPr>
        </p:nvSpPr>
        <p:spPr>
          <a:xfrm>
            <a:off x="1422400" y="3175000"/>
            <a:ext cx="9398000" cy="12700"/>
          </a:xfrm>
          <a:custGeom>
            <a:avLst/>
            <a:gdLst/>
            <a:ahLst/>
            <a:cxnLst/>
            <a:rect l="l" t="t" r="r" b="b"/>
            <a:pathLst>
              <a:path w="740" h="1">
                <a:moveTo>
                  <a:pt x="0" y="0"/>
                </a:moveTo>
                <a:lnTo>
                  <a:pt x="7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8" name="item2-num"/>
          <p:cNvSpPr txBox="1"/>
          <p:nvPr/>
        </p:nvSpPr>
        <p:spPr>
          <a:xfrm>
            <a:off x="1422400" y="34544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B91C1C"/>
                </a:solidFill>
                <a:latin typeface="MiSans"/>
                <a:ea typeface="MiSans"/>
              </a:rPr>
              <a:t>02</a:t>
            </a:r>
            <a:endParaRPr lang="en-US" sz="3400" noProof="1"/>
          </a:p>
        </p:txBody>
      </p:sp>
      <p:sp>
        <p:nvSpPr>
          <p:cNvPr id="9" name="item2"/>
          <p:cNvSpPr txBox="1"/>
          <p:nvPr/>
        </p:nvSpPr>
        <p:spPr>
          <a:xfrm>
            <a:off x="2413000" y="3454400"/>
            <a:ext cx="838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Budget checks vary by reviewer, which makes similar applications receive different treatment.</a:t>
            </a:r>
            <a:endParaRPr lang="en-US" sz="1800" noProof="1"/>
          </a:p>
        </p:txBody>
      </p:sp>
      <p:sp>
        <p:nvSpPr>
          <p:cNvPr id="10" name="line2"/>
          <p:cNvSpPr/>
          <p:nvPr>
            <p:extLst>
              <p:ext uri="{F5677B7D-0D2A-4D9B-9A5C-6D8D7D0E5A5D}">
                <pptd:line encoding="base64url">eyJ2aWV3Qm94IjpbNzQwLDFdLCJwb2ludHMiOiIwLDAgNzQwLDAiLCJjdXJ2ZSI6InNoYXJwIn0</pptd:line>
              </p:ext>
            </p:extLst>
          </p:nvPr>
        </p:nvSpPr>
        <p:spPr>
          <a:xfrm>
            <a:off x="1422400" y="4394200"/>
            <a:ext cx="9398000" cy="12700"/>
          </a:xfrm>
          <a:custGeom>
            <a:avLst/>
            <a:gdLst/>
            <a:ahLst/>
            <a:cxnLst/>
            <a:rect l="l" t="t" r="r" b="b"/>
            <a:pathLst>
              <a:path w="740" h="1">
                <a:moveTo>
                  <a:pt x="0" y="0"/>
                </a:moveTo>
                <a:lnTo>
                  <a:pt x="7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1" name="item3-num"/>
          <p:cNvSpPr txBox="1"/>
          <p:nvPr/>
        </p:nvSpPr>
        <p:spPr>
          <a:xfrm>
            <a:off x="1422400" y="46736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B91C1C"/>
                </a:solidFill>
                <a:latin typeface="MiSans"/>
                <a:ea typeface="MiSans"/>
              </a:rPr>
              <a:t>03</a:t>
            </a:r>
            <a:endParaRPr lang="en-US" sz="3400" noProof="1"/>
          </a:p>
        </p:txBody>
      </p:sp>
      <p:sp>
        <p:nvSpPr>
          <p:cNvPr id="12" name="item3"/>
          <p:cNvSpPr txBox="1"/>
          <p:nvPr/>
        </p:nvSpPr>
        <p:spPr>
          <a:xfrm>
            <a:off x="2413000" y="4673600"/>
            <a:ext cx="838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Decisions are hard to explain later because findings, conditions, and reasons are not recorded in one place.</a:t>
            </a:r>
            <a:endParaRPr lang="en-US" sz="1800" noProof="1"/>
          </a:p>
        </p:txBody>
      </p:sp>
      <p:sp>
        <p:nvSpPr>
          <p:cNvPr id="13" name="bottom"/>
          <p:cNvSpPr txBox="1"/>
          <p:nvPr/>
        </p:nvSpPr>
        <p:spPr>
          <a:xfrm>
            <a:off x="1016000" y="5918200"/>
            <a:ext cx="965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B7280"/>
                </a:solidFill>
                <a:latin typeface="MiSans"/>
                <a:ea typeface="MiSans"/>
              </a:rPr>
              <a:t>GrantFlow KE keeps the human decision, but makes the first review structured, repeatable, and auditable.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label"/>
          <p:cNvSpPr txBox="1"/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6B7280"/>
                </a:solidFill>
                <a:latin typeface="MiSans"/>
                <a:ea typeface="MiSans"/>
              </a:rPr>
              <a:t>THE PRODUCT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1016000" y="939800"/>
            <a:ext cx="9652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800" noProof="1" b="1">
                <a:solidFill>
                  <a:srgbClr val="0B3D2E"/>
                </a:solidFill>
                <a:latin typeface="MiSans"/>
                <a:ea typeface="MiSans"/>
              </a:rPr>
              <a:t>A structured review path from application to decision record.</a:t>
            </a:r>
            <a:endParaRPr lang="en-US" sz="2800" noProof="1"/>
          </a:p>
        </p:txBody>
      </p:sp>
      <p:sp>
        <p:nvSpPr>
          <p:cNvPr id="4" name="node1"/>
          <p:cNvSpPr/>
          <p:nvPr/>
        </p:nvSpPr>
        <p:spPr>
          <a:xfrm>
            <a:off x="1016000" y="2159000"/>
            <a:ext cx="2159000" cy="1117600"/>
          </a:xfrm>
          <a:prstGeom prst="rect">
            <a:avLst/>
          </a:prstGeom>
          <a:solidFill>
            <a:srgbClr val="F7F3EA"/>
          </a:solidFill>
          <a:ln w="25400">
            <a:solidFill>
              <a:srgbClr val="0B3D2E"/>
            </a:solidFill>
          </a:ln>
        </p:spPr>
      </p:sp>
      <p:sp>
        <p:nvSpPr>
          <p:cNvPr id="5" name="node1-text"/>
          <p:cNvSpPr txBox="1"/>
          <p:nvPr/>
        </p:nvSpPr>
        <p:spPr>
          <a:xfrm>
            <a:off x="1219200" y="2387600"/>
            <a:ext cx="1752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0B3D2E"/>
                </a:solidFill>
                <a:latin typeface="MiSans"/>
                <a:ea typeface="MiSans"/>
              </a:rPr>
              <a:t>Structured application</a:t>
            </a:r>
            <a:endParaRPr lang="en-US" sz="1800" noProof="1"/>
          </a:p>
        </p:txBody>
      </p:sp>
      <p:sp>
        <p:nvSpPr>
          <p:cNvPr id="6" name="arrow1"/>
          <p:cNvSpPr/>
          <p:nvPr>
            <p:extLst>
              <p:ext uri="{F5677B7D-0D2A-4D9B-9A5C-6D8D7D0E5A5D}">
                <pptd:line encoding="base64url">eyJ2aWV3Qm94IjpbNjIsNF0sInBvaW50cyI6IjAsMiA2MiwyIiwiY3VydmUiOiJzaGFycCJ9</pptd:line>
              </p:ext>
            </p:extLst>
          </p:nvPr>
        </p:nvSpPr>
        <p:spPr>
          <a:xfrm>
            <a:off x="3276600" y="26924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62" h="4">
                <a:moveTo>
                  <a:pt x="0" y="2"/>
                </a:moveTo>
                <a:lnTo>
                  <a:pt x="62" y="2"/>
                </a:lnTo>
              </a:path>
            </a:pathLst>
          </a:custGeom>
          <a:noFill/>
          <a:ln w="25400">
            <a:solidFill>
              <a:srgbClr val="D97706"/>
            </a:solidFill>
          </a:ln>
        </p:spPr>
      </p:sp>
      <p:sp>
        <p:nvSpPr>
          <p:cNvPr id="7" name="node2"/>
          <p:cNvSpPr/>
          <p:nvPr/>
        </p:nvSpPr>
        <p:spPr>
          <a:xfrm>
            <a:off x="4165600" y="2159000"/>
            <a:ext cx="2159000" cy="1117600"/>
          </a:xfrm>
          <a:prstGeom prst="rect">
            <a:avLst/>
          </a:prstGeom>
          <a:solidFill>
            <a:srgbClr val="F7F3EA"/>
          </a:solidFill>
          <a:ln w="25400">
            <a:solidFill>
              <a:srgbClr val="0B3D2E"/>
            </a:solidFill>
          </a:ln>
        </p:spPr>
      </p:sp>
      <p:sp>
        <p:nvSpPr>
          <p:cNvPr id="8" name="node2-text"/>
          <p:cNvSpPr txBox="1"/>
          <p:nvPr/>
        </p:nvSpPr>
        <p:spPr>
          <a:xfrm>
            <a:off x="4368800" y="2387600"/>
            <a:ext cx="1752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0B3D2E"/>
                </a:solidFill>
                <a:latin typeface="MiSans"/>
                <a:ea typeface="MiSans"/>
              </a:rPr>
              <a:t>Four review agents</a:t>
            </a:r>
            <a:endParaRPr lang="en-US" sz="1800" noProof="1"/>
          </a:p>
        </p:txBody>
      </p:sp>
      <p:sp>
        <p:nvSpPr>
          <p:cNvPr id="9" name="arrow2"/>
          <p:cNvSpPr/>
          <p:nvPr>
            <p:extLst>
              <p:ext uri="{F5677B7D-0D2A-4D9B-9A5C-6D8D7D0E5A5D}">
                <pptd:line encoding="base64url">eyJ2aWV3Qm94IjpbNjIsNF0sInBvaW50cyI6IjAsMiA2MiwyIiwiY3VydmUiOiJzaGFycCJ9</pptd:line>
              </p:ext>
            </p:extLst>
          </p:nvPr>
        </p:nvSpPr>
        <p:spPr>
          <a:xfrm>
            <a:off x="6426200" y="26924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62" h="4">
                <a:moveTo>
                  <a:pt x="0" y="2"/>
                </a:moveTo>
                <a:lnTo>
                  <a:pt x="62" y="2"/>
                </a:lnTo>
              </a:path>
            </a:pathLst>
          </a:custGeom>
          <a:noFill/>
          <a:ln w="25400">
            <a:solidFill>
              <a:srgbClr val="D97706"/>
            </a:solidFill>
          </a:ln>
        </p:spPr>
      </p:sp>
      <p:sp>
        <p:nvSpPr>
          <p:cNvPr id="10" name="node3"/>
          <p:cNvSpPr/>
          <p:nvPr/>
        </p:nvSpPr>
        <p:spPr>
          <a:xfrm>
            <a:off x="7315200" y="2159000"/>
            <a:ext cx="2159000" cy="1117600"/>
          </a:xfrm>
          <a:prstGeom prst="rect">
            <a:avLst/>
          </a:prstGeom>
          <a:solidFill>
            <a:srgbClr val="F7F3EA"/>
          </a:solidFill>
          <a:ln w="25400">
            <a:solidFill>
              <a:srgbClr val="0B3D2E"/>
            </a:solidFill>
          </a:ln>
        </p:spPr>
      </p:sp>
      <p:sp>
        <p:nvSpPr>
          <p:cNvPr id="11" name="node3-text"/>
          <p:cNvSpPr txBox="1"/>
          <p:nvPr/>
        </p:nvSpPr>
        <p:spPr>
          <a:xfrm>
            <a:off x="7518400" y="2387600"/>
            <a:ext cx="1752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0B3D2E"/>
                </a:solidFill>
                <a:latin typeface="MiSans"/>
                <a:ea typeface="MiSans"/>
              </a:rPr>
              <a:t>Score and report</a:t>
            </a:r>
            <a:endParaRPr lang="en-US" sz="1800" noProof="1"/>
          </a:p>
        </p:txBody>
      </p:sp>
      <p:sp>
        <p:nvSpPr>
          <p:cNvPr id="12" name="arrow3"/>
          <p:cNvSpPr/>
          <p:nvPr>
            <p:extLst>
              <p:ext uri="{F5677B7D-0D2A-4D9B-9A5C-6D8D7D0E5A5D}">
                <pptd:line encoding="base64url">eyJ2aWV3Qm94IjpbNjIsNF0sInBvaW50cyI6IjAsMiA2MiwyIiwiY3VydmUiOiJzaGFycCJ9</pptd:line>
              </p:ext>
            </p:extLst>
          </p:nvPr>
        </p:nvSpPr>
        <p:spPr>
          <a:xfrm>
            <a:off x="9575800" y="26924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62" h="4">
                <a:moveTo>
                  <a:pt x="0" y="2"/>
                </a:moveTo>
                <a:lnTo>
                  <a:pt x="62" y="2"/>
                </a:lnTo>
              </a:path>
            </a:pathLst>
          </a:custGeom>
          <a:noFill/>
          <a:ln w="25400">
            <a:solidFill>
              <a:srgbClr val="D97706"/>
            </a:solidFill>
          </a:ln>
        </p:spPr>
      </p:sp>
      <p:sp>
        <p:nvSpPr>
          <p:cNvPr id="13" name="node4"/>
          <p:cNvSpPr/>
          <p:nvPr/>
        </p:nvSpPr>
        <p:spPr>
          <a:xfrm>
            <a:off x="10464800" y="2159000"/>
            <a:ext cx="1219200" cy="1117600"/>
          </a:xfrm>
          <a:prstGeom prst="rect">
            <a:avLst/>
          </a:prstGeom>
          <a:solidFill>
            <a:srgbClr val="0B3D2E"/>
          </a:solidFill>
          <a:ln>
            <a:noFill/>
          </a:ln>
        </p:spPr>
      </p:sp>
      <p:sp>
        <p:nvSpPr>
          <p:cNvPr id="14" name="node4-text"/>
          <p:cNvSpPr txBox="1"/>
          <p:nvPr/>
        </p:nvSpPr>
        <p:spPr>
          <a:xfrm>
            <a:off x="10566400" y="23876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7F3EA"/>
                </a:solidFill>
                <a:latin typeface="MiSans"/>
                <a:ea typeface="MiSans"/>
              </a:rPr>
              <a:t>Human decision</a:t>
            </a:r>
            <a:endParaRPr lang="en-US" sz="1600" noProof="1"/>
          </a:p>
        </p:txBody>
      </p:sp>
      <p:sp>
        <p:nvSpPr>
          <p:cNvPr id="15" name="below1"/>
          <p:cNvSpPr txBox="1"/>
          <p:nvPr/>
        </p:nvSpPr>
        <p:spPr>
          <a:xfrm>
            <a:off x="1016000" y="3886200"/>
            <a:ext cx="4572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Applicants submit structured information. Reviewers see scores, findings, conditions, and a generated report before recording a final decision.</a:t>
            </a:r>
            <a:endParaRPr lang="en-US" sz="1800" noProof="1"/>
          </a:p>
        </p:txBody>
      </p:sp>
      <p:sp>
        <p:nvSpPr>
          <p:cNvPr id="16" name="below-lin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5308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7" name="below2"/>
          <p:cNvSpPr txBox="1"/>
          <p:nvPr/>
        </p:nvSpPr>
        <p:spPr>
          <a:xfrm>
            <a:off x="1016000" y="56134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B7280"/>
                </a:solidFill>
                <a:latin typeface="MiSans"/>
                <a:ea typeface="MiSans"/>
              </a:rPr>
              <a:t>The demo includes approve, conditional, and reject paths, plus applicant view, rules, audit trail, and reset for repeatable presentation.</a:t>
            </a:r>
            <a:endParaRPr lang="en-US" sz="13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label"/>
          <p:cNvSpPr txBox="1"/>
          <p:nvPr/>
        </p:nvSpPr>
        <p:spPr>
          <a:xfrm>
            <a:off x="1016000" y="508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6B7280"/>
                </a:solidFill>
                <a:latin typeface="MiSans"/>
                <a:ea typeface="MiSans"/>
              </a:rPr>
              <a:t>AGENTIC REVIEW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1016000" y="939800"/>
            <a:ext cx="9652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800" noProof="1" b="1">
                <a:solidFill>
                  <a:srgbClr val="0B3D2E"/>
                </a:solidFill>
                <a:latin typeface="MiSans"/>
                <a:ea typeface="MiSans"/>
              </a:rPr>
              <a:t>Four agents, four responsibilities, one explainable score.</a:t>
            </a:r>
            <a:endParaRPr lang="en-US" sz="2800" noProof="1"/>
          </a:p>
        </p:txBody>
      </p:sp>
      <p:sp>
        <p:nvSpPr>
          <p:cNvPr id="4" name="score"/>
          <p:cNvSpPr txBox="1"/>
          <p:nvPr/>
        </p:nvSpPr>
        <p:spPr>
          <a:xfrm>
            <a:off x="9144000" y="762000"/>
            <a:ext cx="2032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00000"/>
              </a:lnSpc>
            </a:pPr>
            <a:r>
              <a:rPr lang="en-US" sz="6400" noProof="1" b="1">
                <a:solidFill>
                  <a:srgbClr val="D97706"/>
                </a:solidFill>
                <a:latin typeface="MiSans"/>
                <a:ea typeface="MiSans"/>
              </a:rPr>
              <a:t>100</a:t>
            </a:r>
            <a:endParaRPr lang="en-US" sz="6400" noProof="1"/>
          </a:p>
        </p:txBody>
      </p:sp>
      <p:sp>
        <p:nvSpPr>
          <p:cNvPr id="5" name="score-label"/>
          <p:cNvSpPr txBox="1"/>
          <p:nvPr/>
        </p:nvSpPr>
        <p:spPr>
          <a:xfrm>
            <a:off x="9144000" y="16764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300" noProof="1">
                <a:solidFill>
                  <a:srgbClr val="6B7280"/>
                </a:solidFill>
                <a:latin typeface="MiSans"/>
                <a:ea typeface="MiSans"/>
              </a:rPr>
              <a:t>total review score</a:t>
            </a:r>
            <a:endParaRPr lang="en-US" sz="1300" noProof="1"/>
          </a:p>
        </p:txBody>
      </p:sp>
      <p:sp>
        <p:nvSpPr>
          <p:cNvPr id="6" name="header"/>
          <p:cNvSpPr txBox="1"/>
          <p:nvPr/>
        </p:nvSpPr>
        <p:spPr>
          <a:xfrm>
            <a:off x="1016000" y="2057400"/>
            <a:ext cx="965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6B7280"/>
                </a:solidFill>
                <a:latin typeface="MiSans"/>
                <a:ea typeface="MiSans"/>
              </a:rPr>
              <a:t>Agent                         Focus                                            Score</a:t>
            </a:r>
            <a:endParaRPr lang="en-US" sz="1400" noProof="1"/>
          </a:p>
        </p:txBody>
      </p:sp>
      <p:sp>
        <p:nvSpPr>
          <p:cNvPr id="7" name="header-line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2489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0B3D2E"/>
            </a:solidFill>
          </a:ln>
        </p:spPr>
      </p:sp>
      <p:sp>
        <p:nvSpPr>
          <p:cNvPr id="8" name="a1"/>
          <p:cNvSpPr txBox="1"/>
          <p:nvPr/>
        </p:nvSpPr>
        <p:spPr>
          <a:xfrm>
            <a:off x="1016000" y="26924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B3D2E"/>
                </a:solidFill>
                <a:latin typeface="MiSans"/>
                <a:ea typeface="MiSans"/>
              </a:rPr>
              <a:t>Completeness</a:t>
            </a:r>
            <a:endParaRPr lang="en-US" sz="1900" noProof="1"/>
          </a:p>
        </p:txBody>
      </p:sp>
      <p:sp>
        <p:nvSpPr>
          <p:cNvPr id="9" name="a1-focus"/>
          <p:cNvSpPr txBox="1"/>
          <p:nvPr/>
        </p:nvSpPr>
        <p:spPr>
          <a:xfrm>
            <a:off x="4064000" y="27178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Required fields and required documents</a:t>
            </a:r>
            <a:endParaRPr lang="en-US" sz="1800" noProof="1"/>
          </a:p>
        </p:txBody>
      </p:sp>
      <p:sp>
        <p:nvSpPr>
          <p:cNvPr id="10" name="a1-score"/>
          <p:cNvSpPr txBox="1"/>
          <p:nvPr/>
        </p:nvSpPr>
        <p:spPr>
          <a:xfrm>
            <a:off x="9906000" y="26924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2000" noProof="1" b="1">
                <a:solidFill>
                  <a:srgbClr val="D97706"/>
                </a:solidFill>
                <a:latin typeface="MiSans"/>
                <a:ea typeface="MiSans"/>
              </a:rPr>
              <a:t>25</a:t>
            </a:r>
            <a:endParaRPr lang="en-US" sz="2000" noProof="1"/>
          </a:p>
        </p:txBody>
      </p:sp>
      <p:sp>
        <p:nvSpPr>
          <p:cNvPr id="11" name="l1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3454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2" name="a2"/>
          <p:cNvSpPr txBox="1"/>
          <p:nvPr/>
        </p:nvSpPr>
        <p:spPr>
          <a:xfrm>
            <a:off x="1016000" y="3657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B3D2E"/>
                </a:solidFill>
                <a:latin typeface="MiSans"/>
                <a:ea typeface="MiSans"/>
              </a:rPr>
              <a:t>Eligibility</a:t>
            </a:r>
            <a:endParaRPr lang="en-US" sz="1900" noProof="1"/>
          </a:p>
        </p:txBody>
      </p:sp>
      <p:sp>
        <p:nvSpPr>
          <p:cNvPr id="13" name="a2-focus"/>
          <p:cNvSpPr txBox="1"/>
          <p:nvPr/>
        </p:nvSpPr>
        <p:spPr>
          <a:xfrm>
            <a:off x="4064000" y="36830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Category, applicant type, location, and timing</a:t>
            </a:r>
            <a:endParaRPr lang="en-US" sz="1800" noProof="1"/>
          </a:p>
        </p:txBody>
      </p:sp>
      <p:sp>
        <p:nvSpPr>
          <p:cNvPr id="14" name="a2-score"/>
          <p:cNvSpPr txBox="1"/>
          <p:nvPr/>
        </p:nvSpPr>
        <p:spPr>
          <a:xfrm>
            <a:off x="9906000" y="36576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2000" noProof="1" b="1">
                <a:solidFill>
                  <a:srgbClr val="D97706"/>
                </a:solidFill>
                <a:latin typeface="MiSans"/>
                <a:ea typeface="MiSans"/>
              </a:rPr>
              <a:t>25</a:t>
            </a:r>
            <a:endParaRPr lang="en-US" sz="2000" noProof="1"/>
          </a:p>
        </p:txBody>
      </p:sp>
      <p:sp>
        <p:nvSpPr>
          <p:cNvPr id="15" name="l2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44196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6" name="a3"/>
          <p:cNvSpPr txBox="1"/>
          <p:nvPr/>
        </p:nvSpPr>
        <p:spPr>
          <a:xfrm>
            <a:off x="1016000" y="46228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B3D2E"/>
                </a:solidFill>
                <a:latin typeface="MiSans"/>
                <a:ea typeface="MiSans"/>
              </a:rPr>
              <a:t>Budget</a:t>
            </a:r>
            <a:endParaRPr lang="en-US" sz="1900" noProof="1"/>
          </a:p>
        </p:txBody>
      </p:sp>
      <p:sp>
        <p:nvSpPr>
          <p:cNvPr id="17" name="a3-focus"/>
          <p:cNvSpPr txBox="1"/>
          <p:nvPr/>
        </p:nvSpPr>
        <p:spPr>
          <a:xfrm>
            <a:off x="4064000" y="46482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Totals, category caps, and unrealistic items</a:t>
            </a:r>
            <a:endParaRPr lang="en-US" sz="1800" noProof="1"/>
          </a:p>
        </p:txBody>
      </p:sp>
      <p:sp>
        <p:nvSpPr>
          <p:cNvPr id="18" name="a3-score"/>
          <p:cNvSpPr txBox="1"/>
          <p:nvPr/>
        </p:nvSpPr>
        <p:spPr>
          <a:xfrm>
            <a:off x="9906000" y="46228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2000" noProof="1" b="1">
                <a:solidFill>
                  <a:srgbClr val="D97706"/>
                </a:solidFill>
                <a:latin typeface="MiSans"/>
                <a:ea typeface="MiSans"/>
              </a:rPr>
              <a:t>25</a:t>
            </a:r>
            <a:endParaRPr lang="en-US" sz="2000" noProof="1"/>
          </a:p>
        </p:txBody>
      </p:sp>
      <p:sp>
        <p:nvSpPr>
          <p:cNvPr id="19" name="l3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5384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20" name="a4"/>
          <p:cNvSpPr txBox="1"/>
          <p:nvPr/>
        </p:nvSpPr>
        <p:spPr>
          <a:xfrm>
            <a:off x="1016000" y="55880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B3D2E"/>
                </a:solidFill>
                <a:latin typeface="MiSans"/>
                <a:ea typeface="MiSans"/>
              </a:rPr>
              <a:t>Risk</a:t>
            </a:r>
            <a:endParaRPr lang="en-US" sz="1900" noProof="1"/>
          </a:p>
        </p:txBody>
      </p:sp>
      <p:sp>
        <p:nvSpPr>
          <p:cNvPr id="21" name="a4-focus"/>
          <p:cNvSpPr txBox="1"/>
          <p:nvPr/>
        </p:nvSpPr>
        <p:spPr>
          <a:xfrm>
            <a:off x="4064000" y="56134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Timeline, safeguarding, prior funding, and conflicts</a:t>
            </a:r>
            <a:endParaRPr lang="en-US" sz="1800" noProof="1"/>
          </a:p>
        </p:txBody>
      </p:sp>
      <p:sp>
        <p:nvSpPr>
          <p:cNvPr id="22" name="a4-score"/>
          <p:cNvSpPr txBox="1"/>
          <p:nvPr/>
        </p:nvSpPr>
        <p:spPr>
          <a:xfrm>
            <a:off x="9906000" y="5588000"/>
            <a:ext cx="101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0000"/>
              </a:lnSpc>
            </a:pPr>
            <a:r>
              <a:rPr lang="en-US" sz="2000" noProof="1" b="1">
                <a:solidFill>
                  <a:srgbClr val="D97706"/>
                </a:solidFill>
                <a:latin typeface="MiSans"/>
                <a:ea typeface="MiSans"/>
              </a:rPr>
              <a:t>25</a:t>
            </a:r>
            <a:endParaRPr lang="en-US" sz="2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label"/>
          <p:cNvSpPr txBox="1"/>
          <p:nvPr/>
        </p:nvSpPr>
        <p:spPr>
          <a:xfrm>
            <a:off x="1016000" y="508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6B7280"/>
                </a:solidFill>
                <a:latin typeface="MiSans"/>
                <a:ea typeface="MiSans"/>
              </a:rPr>
              <a:t>DECISION GOVERNANCE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1016000" y="939800"/>
            <a:ext cx="9906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800" noProof="1" b="1">
                <a:solidFill>
                  <a:srgbClr val="0B3D2E"/>
                </a:solidFill>
                <a:latin typeface="MiSans"/>
                <a:ea typeface="MiSans"/>
              </a:rPr>
              <a:t>The agent recommends. The reviewer decides. The record explains both.</a:t>
            </a:r>
            <a:endParaRPr lang="en-US" sz="2800" noProof="1"/>
          </a:p>
        </p:txBody>
      </p:sp>
      <p:sp>
        <p:nvSpPr>
          <p:cNvPr id="4" name="left-title"/>
          <p:cNvSpPr txBox="1"/>
          <p:nvPr/>
        </p:nvSpPr>
        <p:spPr>
          <a:xfrm>
            <a:off x="1016000" y="20574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0B3D2E"/>
                </a:solidFill>
                <a:latin typeface="MiSans"/>
                <a:ea typeface="MiSans"/>
              </a:rPr>
              <a:t>Recommendation thresholds</a:t>
            </a:r>
            <a:endParaRPr lang="en-US" sz="2200" noProof="1"/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016000" y="2641600"/>
          <a:ext cx="4953000" cy="2235200"/>
        </p:xfrm>
        <a:graphic>
          <a:graphicData uri="http://schemas.openxmlformats.org/drawingml/2006/table">
            <a:tbl>
              <a:tblPr/>
              <a:tblGrid>
                <a:gridCol w="1684020"/>
                <a:gridCol w="3268980"/>
              </a:tblGrid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 b="1">
                          <a:solidFill>
                            <a:srgbClr val="0B3D2E"/>
                          </a:solidFill>
                          <a:latin typeface="Times New Roman"/>
                          <a:ea typeface="Times New Roman"/>
                        </a:rPr>
                        <a:t>Score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 b="1">
                          <a:solidFill>
                            <a:srgbClr val="0B3D2E"/>
                          </a:solidFill>
                          <a:latin typeface="Times New Roman"/>
                          <a:ea typeface="Times New Roman"/>
                        </a:rPr>
                        <a:t>Recommendation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85 to 100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Approve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70 to 84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Conditional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</a:tr>
              <a:tr h="5588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Below 70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600" noProof="1">
                          <a:solidFill>
                            <a:srgbClr val="1F2937"/>
                          </a:solidFill>
                          <a:latin typeface="Times New Roman"/>
                          <a:ea typeface="Times New Roman"/>
                        </a:rPr>
                        <a:t>Reject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2C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divider"/>
          <p:cNvSpPr/>
          <p:nvPr>
            <p:extLst>
              <p:ext uri="{F5677B7D-0D2A-4D9B-9A5C-6D8D7D0E5A5D}">
                <pptd:line encoding="base64url">eyJ2aWV3Qm94IjpbMSwyNTBdLCJwb2ludHMiOiIwLDAgMCwyNTAiLCJjdXJ2ZSI6InNoYXJwIn0</pptd:line>
              </p:ext>
            </p:extLst>
          </p:nvPr>
        </p:nvSpPr>
        <p:spPr>
          <a:xfrm>
            <a:off x="6477000" y="2133600"/>
            <a:ext cx="12700" cy="3175000"/>
          </a:xfrm>
          <a:custGeom>
            <a:avLst/>
            <a:gdLst/>
            <a:ahLst/>
            <a:cxnLst/>
            <a:rect l="l" t="t" r="r" b="b"/>
            <a:pathLst>
              <a:path w="1" h="250">
                <a:moveTo>
                  <a:pt x="0" y="0"/>
                </a:moveTo>
                <a:lnTo>
                  <a:pt x="0" y="25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7" name="right-title"/>
          <p:cNvSpPr txBox="1"/>
          <p:nvPr/>
        </p:nvSpPr>
        <p:spPr>
          <a:xfrm>
            <a:off x="6985000" y="2057400"/>
            <a:ext cx="431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0B3D2E"/>
                </a:solidFill>
                <a:latin typeface="MiSans"/>
                <a:ea typeface="MiSans"/>
              </a:rPr>
              <a:t>Accountability controls</a:t>
            </a:r>
            <a:endParaRPr lang="en-US" sz="2200" noProof="1"/>
          </a:p>
        </p:txBody>
      </p:sp>
      <p:sp>
        <p:nvSpPr>
          <p:cNvPr id="8" name="r1"/>
          <p:cNvSpPr txBox="1"/>
          <p:nvPr/>
        </p:nvSpPr>
        <p:spPr>
          <a:xfrm>
            <a:off x="6985000" y="27178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Agent recommendation and reviewer decision are shown separately.</a:t>
            </a:r>
            <a:endParaRPr lang="en-US" sz="1800" noProof="1"/>
          </a:p>
        </p:txBody>
      </p:sp>
      <p:sp>
        <p:nvSpPr>
          <p:cNvPr id="9" name="r1-line"/>
          <p:cNvSpPr/>
          <p:nvPr>
            <p:extLst>
              <p:ext uri="{F5677B7D-0D2A-4D9B-9A5C-6D8D7D0E5A5D}">
                <pptd:line encoding="base64url">eyJ2aWV3Qm94IjpbMzQwLDFdLCJwb2ludHMiOiIwLDAgMzQwLDAiLCJjdXJ2ZSI6InNoYXJwIn0</pptd:line>
              </p:ext>
            </p:extLst>
          </p:nvPr>
        </p:nvSpPr>
        <p:spPr>
          <a:xfrm>
            <a:off x="6985000" y="3505200"/>
            <a:ext cx="4318000" cy="12700"/>
          </a:xfrm>
          <a:custGeom>
            <a:avLst/>
            <a:gdLst/>
            <a:ahLst/>
            <a:cxnLst/>
            <a:rect l="l" t="t" r="r" b="b"/>
            <a:pathLst>
              <a:path w="340" h="1">
                <a:moveTo>
                  <a:pt x="0" y="0"/>
                </a:moveTo>
                <a:lnTo>
                  <a:pt x="3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0" name="r2"/>
          <p:cNvSpPr txBox="1"/>
          <p:nvPr/>
        </p:nvSpPr>
        <p:spPr>
          <a:xfrm>
            <a:off x="6985000" y="37592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Conditions and override reasons are recorded when the reviewer differs.</a:t>
            </a:r>
            <a:endParaRPr lang="en-US" sz="1800" noProof="1"/>
          </a:p>
        </p:txBody>
      </p:sp>
      <p:sp>
        <p:nvSpPr>
          <p:cNvPr id="11" name="r2-line"/>
          <p:cNvSpPr/>
          <p:nvPr>
            <p:extLst>
              <p:ext uri="{F5677B7D-0D2A-4D9B-9A5C-6D8D7D0E5A5D}">
                <pptd:line encoding="base64url">eyJ2aWV3Qm94IjpbMzQwLDFdLCJwb2ludHMiOiIwLDAgMzQwLDAiLCJjdXJ2ZSI6InNoYXJwIn0</pptd:line>
              </p:ext>
            </p:extLst>
          </p:nvPr>
        </p:nvSpPr>
        <p:spPr>
          <a:xfrm>
            <a:off x="6985000" y="4546600"/>
            <a:ext cx="4318000" cy="12700"/>
          </a:xfrm>
          <a:custGeom>
            <a:avLst/>
            <a:gdLst/>
            <a:ahLst/>
            <a:cxnLst/>
            <a:rect l="l" t="t" r="r" b="b"/>
            <a:pathLst>
              <a:path w="340" h="1">
                <a:moveTo>
                  <a:pt x="0" y="0"/>
                </a:moveTo>
                <a:lnTo>
                  <a:pt x="3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2" name="r3"/>
          <p:cNvSpPr txBox="1"/>
          <p:nvPr/>
        </p:nvSpPr>
        <p:spPr>
          <a:xfrm>
            <a:off x="6985000" y="4800600"/>
            <a:ext cx="431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Decision controls lock after outcome, and the audit trail keeps the action history.</a:t>
            </a:r>
            <a:endParaRPr lang="en-US" sz="1800" noProof="1"/>
          </a:p>
        </p:txBody>
      </p:sp>
      <p:sp>
        <p:nvSpPr>
          <p:cNvPr id="13" name="bottom"/>
          <p:cNvSpPr txBox="1"/>
          <p:nvPr/>
        </p:nvSpPr>
        <p:spPr>
          <a:xfrm>
            <a:off x="1016000" y="59182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B7280"/>
                </a:solidFill>
                <a:latin typeface="MiSans"/>
                <a:ea typeface="MiSans"/>
              </a:rPr>
              <a:t>This structure keeps automation useful without hiding human responsibility.</a:t>
            </a:r>
            <a:endParaRPr lang="en-US" sz="13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label"/>
          <p:cNvSpPr txBox="1"/>
          <p:nvPr/>
        </p:nvSpPr>
        <p:spPr>
          <a:xfrm>
            <a:off x="1016000" y="533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D8D2C4"/>
                </a:solidFill>
                <a:latin typeface="MiSans"/>
                <a:ea typeface="MiSans"/>
              </a:rPr>
              <a:t>JAC AND RELIABILITY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1016000" y="990600"/>
            <a:ext cx="1016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2000"/>
              </a:lnSpc>
            </a:pPr>
            <a:r>
              <a:rPr lang="en-US" sz="3400" noProof="1" b="1">
                <a:solidFill>
                  <a:srgbClr val="F7F3EA"/>
                </a:solidFill>
                <a:latin typeface="MiSans"/>
                <a:ea typeface="MiSans"/>
              </a:rPr>
              <a:t>Built in Jac, hosted in Jac Hammer, and designed to demo without outside failure points.</a:t>
            </a:r>
            <a:endParaRPr lang="en-US" sz="3400" noProof="1"/>
          </a:p>
        </p:txBody>
      </p:sp>
      <p:sp>
        <p:nvSpPr>
          <p:cNvPr id="4" name="left-rule"/>
          <p:cNvSpPr/>
          <p:nvPr/>
        </p:nvSpPr>
        <p:spPr>
          <a:xfrm>
            <a:off x="1016000" y="2159000"/>
            <a:ext cx="50800" cy="3175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" name="l1"/>
          <p:cNvSpPr txBox="1"/>
          <p:nvPr/>
        </p:nvSpPr>
        <p:spPr>
          <a:xfrm>
            <a:off x="1422400" y="2235200"/>
            <a:ext cx="4191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F7F3EA"/>
                </a:solidFill>
                <a:latin typeface="MiSans"/>
                <a:ea typeface="MiSans"/>
              </a:rPr>
              <a:t>Jac carries the workflow</a:t>
            </a:r>
            <a:endParaRPr lang="en-US" sz="2000" noProof="1"/>
          </a:p>
        </p:txBody>
      </p:sp>
      <p:sp>
        <p:nvSpPr>
          <p:cNvPr id="6" name="l1-body"/>
          <p:cNvSpPr txBox="1"/>
          <p:nvPr/>
        </p:nvSpPr>
        <p:spPr>
          <a:xfrm>
            <a:off x="1422400" y="2921000"/>
            <a:ext cx="4191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DE6D8"/>
                </a:solidFill>
                <a:latin typeface="MiSans"/>
                <a:ea typeface="MiSans"/>
              </a:rPr>
              <a:t>Data model, application state, review logic, report generation, and UI flow stay inside the Jac app.</a:t>
            </a:r>
            <a:endParaRPr lang="en-US" sz="1600" noProof="1"/>
          </a:p>
        </p:txBody>
      </p:sp>
      <p:sp>
        <p:nvSpPr>
          <p:cNvPr id="7" name="l2"/>
          <p:cNvSpPr txBox="1"/>
          <p:nvPr/>
        </p:nvSpPr>
        <p:spPr>
          <a:xfrm>
            <a:off x="1422400" y="3987800"/>
            <a:ext cx="4191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F7F3EA"/>
                </a:solidFill>
                <a:latin typeface="MiSans"/>
                <a:ea typeface="MiSans"/>
              </a:rPr>
              <a:t>Jac Hammer carries the build</a:t>
            </a:r>
            <a:endParaRPr lang="en-US" sz="2000" noProof="1"/>
          </a:p>
        </p:txBody>
      </p:sp>
      <p:sp>
        <p:nvSpPr>
          <p:cNvPr id="8" name="l2-body"/>
          <p:cNvSpPr txBox="1"/>
          <p:nvPr/>
        </p:nvSpPr>
        <p:spPr>
          <a:xfrm>
            <a:off x="1422400" y="4673600"/>
            <a:ext cx="4191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DE6D8"/>
                </a:solidFill>
                <a:latin typeface="MiSans"/>
                <a:ea typeface="MiSans"/>
              </a:rPr>
              <a:t>The project was generated, checked, previewed, and hosted through the Jac Hammer workflow.</a:t>
            </a:r>
            <a:endParaRPr lang="en-US" sz="1600" noProof="1"/>
          </a:p>
        </p:txBody>
      </p:sp>
      <p:sp>
        <p:nvSpPr>
          <p:cNvPr id="9" name="mid-line"/>
          <p:cNvSpPr/>
          <p:nvPr>
            <p:extLst>
              <p:ext uri="{F5677B7D-0D2A-4D9B-9A5C-6D8D7D0E5A5D}">
                <pptd:line encoding="base64url">eyJ2aWV3Qm94IjpbMSwyNTBdLCJwb2ludHMiOiIwLDAgMCwyNTAiLCJjdXJ2ZSI6InNoYXJwIn0</pptd:line>
              </p:ext>
            </p:extLst>
          </p:nvPr>
        </p:nvSpPr>
        <p:spPr>
          <a:xfrm>
            <a:off x="6172200" y="2235200"/>
            <a:ext cx="12700" cy="3175000"/>
          </a:xfrm>
          <a:custGeom>
            <a:avLst/>
            <a:gdLst/>
            <a:ahLst/>
            <a:cxnLst/>
            <a:rect l="l" t="t" r="r" b="b"/>
            <a:pathLst>
              <a:path w="1" h="250">
                <a:moveTo>
                  <a:pt x="0" y="0"/>
                </a:moveTo>
                <a:lnTo>
                  <a:pt x="0" y="250"/>
                </a:lnTo>
              </a:path>
            </a:pathLst>
          </a:custGeom>
          <a:noFill/>
          <a:ln w="12700">
            <a:solidFill>
              <a:srgbClr val="D8D2C4">
                <a:alpha val="50196"/>
              </a:srgbClr>
            </a:solidFill>
          </a:ln>
        </p:spPr>
      </p:sp>
      <p:sp>
        <p:nvSpPr>
          <p:cNvPr id="10" name="right-title"/>
          <p:cNvSpPr txBox="1"/>
          <p:nvPr/>
        </p:nvSpPr>
        <p:spPr>
          <a:xfrm>
            <a:off x="6680200" y="22352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F7F3EA"/>
                </a:solidFill>
                <a:latin typeface="MiSans"/>
                <a:ea typeface="MiSans"/>
              </a:rPr>
              <a:t>Reliability choices for judging</a:t>
            </a:r>
            <a:endParaRPr lang="en-US" sz="2000" noProof="1"/>
          </a:p>
        </p:txBody>
      </p:sp>
      <p:sp>
        <p:nvSpPr>
          <p:cNvPr id="11" name="r1"/>
          <p:cNvSpPr txBox="1"/>
          <p:nvPr/>
        </p:nvSpPr>
        <p:spPr>
          <a:xfrm>
            <a:off x="6680200" y="2946400"/>
            <a:ext cx="4445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DE6D8"/>
                </a:solidFill>
                <a:latin typeface="MiSans"/>
                <a:ea typeface="MiSans"/>
              </a:rPr>
              <a:t>No live GenAI dependency in the core demo.</a:t>
            </a:r>
            <a:endParaRPr lang="en-US" sz="1600" noProof="1"/>
          </a:p>
        </p:txBody>
      </p:sp>
      <p:sp>
        <p:nvSpPr>
          <p:cNvPr id="12" name="r1-line"/>
          <p:cNvSpPr/>
          <p:nvPr>
            <p:extLst>
              <p:ext uri="{F5677B7D-0D2A-4D9B-9A5C-6D8D7D0E5A5D}">
                <pptd:line encoding="base64url">eyJ2aWV3Qm94IjpbMzUwLDFdLCJwb2ludHMiOiIwLDAgMzUwLDAiLCJjdXJ2ZSI6InNoYXJwIn0</pptd:line>
              </p:ext>
            </p:extLst>
          </p:nvPr>
        </p:nvSpPr>
        <p:spPr>
          <a:xfrm>
            <a:off x="6680200" y="3581400"/>
            <a:ext cx="4445000" cy="12700"/>
          </a:xfrm>
          <a:custGeom>
            <a:avLst/>
            <a:gdLst/>
            <a:ahLst/>
            <a:cxnLst/>
            <a:rect l="l" t="t" r="r" b="b"/>
            <a:pathLst>
              <a:path w="350" h="1">
                <a:moveTo>
                  <a:pt x="0" y="0"/>
                </a:moveTo>
                <a:lnTo>
                  <a:pt x="350" y="0"/>
                </a:lnTo>
              </a:path>
            </a:pathLst>
          </a:custGeom>
          <a:noFill/>
          <a:ln w="12700">
            <a:solidFill>
              <a:srgbClr val="D8D2C4">
                <a:alpha val="50196"/>
              </a:srgbClr>
            </a:solidFill>
          </a:ln>
        </p:spPr>
      </p:sp>
      <p:sp>
        <p:nvSpPr>
          <p:cNvPr id="13" name="r2"/>
          <p:cNvSpPr txBox="1"/>
          <p:nvPr/>
        </p:nvSpPr>
        <p:spPr>
          <a:xfrm>
            <a:off x="6680200" y="3835400"/>
            <a:ext cx="4445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DE6D8"/>
                </a:solidFill>
                <a:latin typeface="MiSans"/>
                <a:ea typeface="MiSans"/>
              </a:rPr>
              <a:t>No external uploads, payments, maps, SMS, or email required.</a:t>
            </a:r>
            <a:endParaRPr lang="en-US" sz="1600" noProof="1"/>
          </a:p>
        </p:txBody>
      </p:sp>
      <p:sp>
        <p:nvSpPr>
          <p:cNvPr id="14" name="r2-line"/>
          <p:cNvSpPr/>
          <p:nvPr>
            <p:extLst>
              <p:ext uri="{F5677B7D-0D2A-4D9B-9A5C-6D8D7D0E5A5D}">
                <pptd:line encoding="base64url">eyJ2aWV3Qm94IjpbMzUwLDFdLCJwb2ludHMiOiIwLDAgMzUwLDAiLCJjdXJ2ZSI6InNoYXJwIn0</pptd:line>
              </p:ext>
            </p:extLst>
          </p:nvPr>
        </p:nvSpPr>
        <p:spPr>
          <a:xfrm>
            <a:off x="6680200" y="4470400"/>
            <a:ext cx="4445000" cy="12700"/>
          </a:xfrm>
          <a:custGeom>
            <a:avLst/>
            <a:gdLst/>
            <a:ahLst/>
            <a:cxnLst/>
            <a:rect l="l" t="t" r="r" b="b"/>
            <a:pathLst>
              <a:path w="350" h="1">
                <a:moveTo>
                  <a:pt x="0" y="0"/>
                </a:moveTo>
                <a:lnTo>
                  <a:pt x="350" y="0"/>
                </a:lnTo>
              </a:path>
            </a:pathLst>
          </a:custGeom>
          <a:noFill/>
          <a:ln w="12700">
            <a:solidFill>
              <a:srgbClr val="D8D2C4">
                <a:alpha val="50196"/>
              </a:srgbClr>
            </a:solidFill>
          </a:ln>
        </p:spPr>
      </p:sp>
      <p:sp>
        <p:nvSpPr>
          <p:cNvPr id="15" name="r3"/>
          <p:cNvSpPr txBox="1"/>
          <p:nvPr/>
        </p:nvSpPr>
        <p:spPr>
          <a:xfrm>
            <a:off x="6680200" y="4724400"/>
            <a:ext cx="4445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EDE6D8"/>
                </a:solidFill>
                <a:latin typeface="MiSans"/>
                <a:ea typeface="MiSans"/>
              </a:rPr>
              <a:t>Reset Demo Data restores a repeatable approve, conditional, and reject path.</a:t>
            </a:r>
            <a:endParaRPr lang="en-US" sz="1600" noProof="1"/>
          </a:p>
        </p:txBody>
      </p:sp>
      <p:sp>
        <p:nvSpPr>
          <p:cNvPr id="16" name="footer"/>
          <p:cNvSpPr txBox="1"/>
          <p:nvPr/>
        </p:nvSpPr>
        <p:spPr>
          <a:xfrm>
            <a:off x="1016000" y="59182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D8D2C4"/>
                </a:solidFill>
                <a:latin typeface="MiSans"/>
                <a:ea typeface="MiSans"/>
              </a:rPr>
              <a:t>The point is not to remove people from grant review. The point is to make review consistent and explainable.</a:t>
            </a:r>
            <a:endParaRPr lang="en-US" sz="13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label"/>
          <p:cNvSpPr txBox="1"/>
          <p:nvPr/>
        </p:nvSpPr>
        <p:spPr>
          <a:xfrm>
            <a:off x="1016000" y="533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spc="150" kern="0">
                <a:solidFill>
                  <a:srgbClr val="6B7280"/>
                </a:solidFill>
                <a:latin typeface="MiSans"/>
                <a:ea typeface="MiSans"/>
              </a:rPr>
              <a:t>DEMO AND NEXT STEPS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1016000" y="990600"/>
            <a:ext cx="965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800" noProof="1" b="1">
                <a:solidFill>
                  <a:srgbClr val="0B3D2E"/>
                </a:solidFill>
                <a:latin typeface="MiSans"/>
                <a:ea typeface="MiSans"/>
              </a:rPr>
              <a:t>What to watch in the demo</a:t>
            </a:r>
            <a:endParaRPr lang="en-US" sz="2800" noProof="1"/>
          </a:p>
        </p:txBody>
      </p:sp>
      <p:sp>
        <p:nvSpPr>
          <p:cNvPr id="4" name="n1"/>
          <p:cNvSpPr txBox="1"/>
          <p:nvPr/>
        </p:nvSpPr>
        <p:spPr>
          <a:xfrm>
            <a:off x="1016000" y="21336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97706"/>
                </a:solidFill>
                <a:latin typeface="MiSans"/>
                <a:ea typeface="MiSans"/>
              </a:rPr>
              <a:t>1</a:t>
            </a:r>
            <a:endParaRPr lang="en-US" sz="3200" noProof="1"/>
          </a:p>
        </p:txBody>
      </p:sp>
      <p:sp>
        <p:nvSpPr>
          <p:cNvPr id="5" name="n1-body"/>
          <p:cNvSpPr txBox="1"/>
          <p:nvPr/>
        </p:nvSpPr>
        <p:spPr>
          <a:xfrm>
            <a:off x="1905000" y="21844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A complete application receives an approve recommendation with a clean report.</a:t>
            </a:r>
            <a:endParaRPr lang="en-US" sz="1800" noProof="1"/>
          </a:p>
        </p:txBody>
      </p:sp>
      <p:sp>
        <p:nvSpPr>
          <p:cNvPr id="6" name="l1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2946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7" name="n2"/>
          <p:cNvSpPr txBox="1"/>
          <p:nvPr/>
        </p:nvSpPr>
        <p:spPr>
          <a:xfrm>
            <a:off x="1016000" y="31750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97706"/>
                </a:solidFill>
                <a:latin typeface="MiSans"/>
                <a:ea typeface="MiSans"/>
              </a:rPr>
              <a:t>2</a:t>
            </a:r>
            <a:endParaRPr lang="en-US" sz="3200" noProof="1"/>
          </a:p>
        </p:txBody>
      </p:sp>
      <p:sp>
        <p:nvSpPr>
          <p:cNvPr id="8" name="n2-body"/>
          <p:cNvSpPr txBox="1"/>
          <p:nvPr/>
        </p:nvSpPr>
        <p:spPr>
          <a:xfrm>
            <a:off x="1905000" y="32258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A missing document case becomes conditional with clear requirements.</a:t>
            </a:r>
            <a:endParaRPr lang="en-US" sz="1800" noProof="1"/>
          </a:p>
        </p:txBody>
      </p:sp>
      <p:sp>
        <p:nvSpPr>
          <p:cNvPr id="9" name="l2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3987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0" name="n3"/>
          <p:cNvSpPr txBox="1"/>
          <p:nvPr/>
        </p:nvSpPr>
        <p:spPr>
          <a:xfrm>
            <a:off x="1016000" y="42164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D97706"/>
                </a:solidFill>
                <a:latin typeface="MiSans"/>
                <a:ea typeface="MiSans"/>
              </a:rPr>
              <a:t>3</a:t>
            </a:r>
            <a:endParaRPr lang="en-US" sz="3200" noProof="1"/>
          </a:p>
        </p:txBody>
      </p:sp>
      <p:sp>
        <p:nvSpPr>
          <p:cNvPr id="11" name="n3-body"/>
          <p:cNvSpPr txBox="1"/>
          <p:nvPr/>
        </p:nvSpPr>
        <p:spPr>
          <a:xfrm>
            <a:off x="1905000" y="42672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MiSans"/>
                <a:ea typeface="MiSans"/>
              </a:rPr>
              <a:t>A high risk application is rejected with findings, reason, and audit record.</a:t>
            </a:r>
            <a:endParaRPr lang="en-US" sz="1800" noProof="1"/>
          </a:p>
        </p:txBody>
      </p:sp>
      <p:sp>
        <p:nvSpPr>
          <p:cNvPr id="12" name="l3"/>
          <p:cNvSpPr/>
          <p:nvPr>
            <p:extLst>
              <p:ext uri="{F5677B7D-0D2A-4D9B-9A5C-6D8D7D0E5A5D}">
                <pptd:line encoding="base64url">eyJ2aWV3Qm94IjpbODQwLDFdLCJwb2ludHMiOiIwLDAgODQwLDAiLCJjdXJ2ZSI6InNoYXJwIn0</pptd:line>
              </p:ext>
            </p:extLst>
          </p:nvPr>
        </p:nvSpPr>
        <p:spPr>
          <a:xfrm>
            <a:off x="1016000" y="5029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>
            <a:solidFill>
              <a:srgbClr val="D8D2C4"/>
            </a:solidFill>
          </a:ln>
        </p:spPr>
      </p:sp>
      <p:sp>
        <p:nvSpPr>
          <p:cNvPr id="13" name="next-title"/>
          <p:cNvSpPr txBox="1"/>
          <p:nvPr/>
        </p:nvSpPr>
        <p:spPr>
          <a:xfrm>
            <a:off x="1016000" y="5334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0B3D2E"/>
                </a:solidFill>
                <a:latin typeface="MiSans"/>
                <a:ea typeface="MiSans"/>
              </a:rPr>
              <a:t>Next steps</a:t>
            </a:r>
            <a:endParaRPr lang="en-US" sz="1800" noProof="1"/>
          </a:p>
        </p:txBody>
      </p:sp>
      <p:sp>
        <p:nvSpPr>
          <p:cNvPr id="14" name="next-body"/>
          <p:cNvSpPr txBox="1"/>
          <p:nvPr/>
        </p:nvSpPr>
        <p:spPr>
          <a:xfrm>
            <a:off x="3175000" y="5308600"/>
            <a:ext cx="850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B7280"/>
                </a:solidFill>
                <a:latin typeface="MiSans"/>
                <a:ea typeface="MiSans"/>
              </a:rPr>
              <a:t>Authentication, document upload, program configuration, reviewer assignment, PDF and CSV export, optional GenAI wording polish with deterministic fallback.</a:t>
            </a:r>
            <a:endParaRPr lang="en-US" sz="1300" noProof="1"/>
          </a:p>
        </p:txBody>
      </p:sp>
      <p:sp>
        <p:nvSpPr>
          <p:cNvPr id="15" name="footer"/>
          <p:cNvSpPr txBox="1"/>
          <p:nvPr/>
        </p:nvSpPr>
        <p:spPr>
          <a:xfrm>
            <a:off x="1016000" y="6299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b"/>
          <a:lstStyle/>
          <a:p>
            <a:pPr algn="r">
              <a:lnSpc>
                <a:spcPct val="135000"/>
              </a:lnSpc>
            </a:pPr>
            <a:r>
              <a:rPr lang="en-US" sz="1300" noProof="1">
                <a:solidFill>
                  <a:srgbClr val="6B7280"/>
                </a:solidFill>
                <a:latin typeface="MiSans"/>
                <a:ea typeface="MiSans"/>
              </a:rPr>
              <a:t>GrantFlow KE. Built for JacHacks Kenya.</a:t>
            </a:r>
            <a:endParaRPr lang="en-US" sz="13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7</Slides>
</Properties>
</file>

<file path=docProps/core.xml><?xml version="1.0" encoding="utf-8"?>
<cp:coreProperties xmlns:dc="http://purl.org/dc/elements/1.1/" xmlns:cp="http://schemas.openxmlformats.org/package/2006/metadata/core-properties">
  <dc:title>GrantFlow KE Pitch Deck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